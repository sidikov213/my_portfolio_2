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0d9c126c93464a" /><Relationship Type="http://schemas.openxmlformats.org/officeDocument/2006/relationships/extended-properties" Target="/docProps/app.xml" Id="R07b530da6bbd4d59" /><Relationship Type="http://schemas.openxmlformats.org/officeDocument/2006/relationships/officeDocument" Target="/ppt/presentation.xml" Id="R3bc710b5a67b42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2aa70f97114b13"/>
  </p:sldMasterIdLst>
  <p:notesMasterIdLst>
    <p:notesMasterId xmlns:r="http://schemas.openxmlformats.org/officeDocument/2006/relationships" r:id="Ra2bfe291781a4548"/>
  </p:notesMasterIdLst>
  <p:sldIdLst>
    <p:sldId xmlns:r="http://schemas.openxmlformats.org/officeDocument/2006/relationships" id="256" r:id="Rb080a342920846fa"/>
    <p:sldId xmlns:r="http://schemas.openxmlformats.org/officeDocument/2006/relationships" id="257" r:id="R9ee78c7759484e3c"/>
    <p:sldId xmlns:r="http://schemas.openxmlformats.org/officeDocument/2006/relationships" id="258" r:id="Rf17554f8a9744a79"/>
    <p:sldId xmlns:r="http://schemas.openxmlformats.org/officeDocument/2006/relationships" id="259" r:id="R23c649759e154e88"/>
    <p:sldId xmlns:r="http://schemas.openxmlformats.org/officeDocument/2006/relationships" id="260" r:id="R5a4a5abec2f640e9"/>
    <p:sldId xmlns:r="http://schemas.openxmlformats.org/officeDocument/2006/relationships" id="261" r:id="Rbc17eb5e262c4f62"/>
    <p:sldId xmlns:r="http://schemas.openxmlformats.org/officeDocument/2006/relationships" id="262" r:id="R092e04df98144b51"/>
    <p:sldId xmlns:r="http://schemas.openxmlformats.org/officeDocument/2006/relationships" id="263" r:id="Rf4391d93373041b7"/>
    <p:sldId xmlns:r="http://schemas.openxmlformats.org/officeDocument/2006/relationships" id="264" r:id="Rc05060abfc4347e6"/>
    <p:sldId xmlns:r="http://schemas.openxmlformats.org/officeDocument/2006/relationships" id="265" r:id="R964c32fdac2147f7"/>
    <p:sldId xmlns:r="http://schemas.openxmlformats.org/officeDocument/2006/relationships" id="266" r:id="R33da33727b1b47a0"/>
    <p:sldId xmlns:r="http://schemas.openxmlformats.org/officeDocument/2006/relationships" id="267" r:id="R472c1e33c7224c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0ab4e60ed44d69" /><Relationship Type="http://schemas.openxmlformats.org/officeDocument/2006/relationships/slideMaster" Target="/ppt/slideMasters/slideMaster1.xml" Id="Rf62aa70f97114b13" /><Relationship Type="http://schemas.openxmlformats.org/officeDocument/2006/relationships/notesMaster" Target="/ppt/notesMasters/notesMaster1.xml" Id="Ra2bfe291781a4548" /><Relationship Type="http://schemas.openxmlformats.org/officeDocument/2006/relationships/presProps" Target="/ppt/presProps.xml" Id="R607f801a2af943bf" /><Relationship Type="http://schemas.openxmlformats.org/officeDocument/2006/relationships/tableStyles" Target="/ppt/tableStyles.xml" Id="Rfe71bd1f7f6541c7" /><Relationship Type="http://schemas.openxmlformats.org/officeDocument/2006/relationships/slide" Target="/ppt/slides/slide1.xml" Id="Rb080a342920846fa" /><Relationship Type="http://schemas.openxmlformats.org/officeDocument/2006/relationships/slide" Target="/ppt/slides/slide2.xml" Id="R9ee78c7759484e3c" /><Relationship Type="http://schemas.openxmlformats.org/officeDocument/2006/relationships/slide" Target="/ppt/slides/slide3.xml" Id="Rf17554f8a9744a79" /><Relationship Type="http://schemas.openxmlformats.org/officeDocument/2006/relationships/slide" Target="/ppt/slides/slide4.xml" Id="R23c649759e154e88" /><Relationship Type="http://schemas.openxmlformats.org/officeDocument/2006/relationships/slide" Target="/ppt/slides/slide5.xml" Id="R5a4a5abec2f640e9" /><Relationship Type="http://schemas.openxmlformats.org/officeDocument/2006/relationships/slide" Target="/ppt/slides/slide6.xml" Id="Rbc17eb5e262c4f62" /><Relationship Type="http://schemas.openxmlformats.org/officeDocument/2006/relationships/slide" Target="/ppt/slides/slide7.xml" Id="R092e04df98144b51" /><Relationship Type="http://schemas.openxmlformats.org/officeDocument/2006/relationships/slide" Target="/ppt/slides/slide8.xml" Id="Rf4391d93373041b7" /><Relationship Type="http://schemas.openxmlformats.org/officeDocument/2006/relationships/slide" Target="/ppt/slides/slide9.xml" Id="Rc05060abfc4347e6" /><Relationship Type="http://schemas.openxmlformats.org/officeDocument/2006/relationships/slide" Target="/ppt/slides/slide10.xml" Id="R964c32fdac2147f7" /><Relationship Type="http://schemas.openxmlformats.org/officeDocument/2006/relationships/slide" Target="/ppt/slides/slide11.xml" Id="R33da33727b1b47a0" /><Relationship Type="http://schemas.openxmlformats.org/officeDocument/2006/relationships/slide" Target="/ppt/slides/slide12.xml" Id="R472c1e33c7224c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bed2835ef849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0f2fe104474a9c" /><Relationship Type="http://schemas.openxmlformats.org/officeDocument/2006/relationships/notesMaster" Target="/ppt/notesMasters/notesMaster1.xml" Id="Rd11b40bc0c7848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27e1115ad54cc6" /><Relationship Type="http://schemas.openxmlformats.org/officeDocument/2006/relationships/notesMaster" Target="/ppt/notesMasters/notesMaster1.xml" Id="Re241b52e6dd64d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ed096bc6774d18" /><Relationship Type="http://schemas.openxmlformats.org/officeDocument/2006/relationships/notesMaster" Target="/ppt/notesMasters/notesMaster1.xml" Id="R5d23ccf00c5940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45342299a74737" /><Relationship Type="http://schemas.openxmlformats.org/officeDocument/2006/relationships/notesMaster" Target="/ppt/notesMasters/notesMaster1.xml" Id="R815cecb1731c49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c447564ca74d1c" /><Relationship Type="http://schemas.openxmlformats.org/officeDocument/2006/relationships/notesMaster" Target="/ppt/notesMasters/notesMaster1.xml" Id="R764011368a0f42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3409daea79422e" /><Relationship Type="http://schemas.openxmlformats.org/officeDocument/2006/relationships/notesMaster" Target="/ppt/notesMasters/notesMaster1.xml" Id="Redfd301cbba244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5021f0a0754848" /><Relationship Type="http://schemas.openxmlformats.org/officeDocument/2006/relationships/notesMaster" Target="/ppt/notesMasters/notesMaster1.xml" Id="Rcccabaf697664e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33e44bdf034260" /><Relationship Type="http://schemas.openxmlformats.org/officeDocument/2006/relationships/notesMaster" Target="/ppt/notesMasters/notesMaster1.xml" Id="Rba26c3e0c82644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b7ec1b5b5445d8" /><Relationship Type="http://schemas.openxmlformats.org/officeDocument/2006/relationships/notesMaster" Target="/ppt/notesMasters/notesMaster1.xml" Id="R24ef0afbef2b4f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238f6654664428" /><Relationship Type="http://schemas.openxmlformats.org/officeDocument/2006/relationships/notesMaster" Target="/ppt/notesMasters/notesMaster1.xml" Id="Rd34fc26a421f446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825325b9ca4f40" /><Relationship Type="http://schemas.openxmlformats.org/officeDocument/2006/relationships/notesMaster" Target="/ppt/notesMasters/notesMaster1.xml" Id="Rcf26855adb8f4e3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f583a2d26574e0a" /><Relationship Type="http://schemas.openxmlformats.org/officeDocument/2006/relationships/notesMaster" Target="/ppt/notesMasters/notesMaster1.xml" Id="R00310698254048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Открытие: мы строим систему, которая связывает внешнее событие с конкретной компанией, объясняет последствия и помогает сравнить варианты действий.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Подчеркнуть: новостной пересказ не решает задачу CEO. Ценность начинается там, где система умеет отфильтровать шум относительно структуры бизнеса.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дать короткую формулу продукта: событие, влияние, решение, выбор. Затем объяснить, что все пять модулей поддерживают эту цепочку.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Digital Twin не обязан быть полной ERP-моделью. Для MVP достаточно графа ключевых зависимостей демонстрационной компании.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Показать причинную цепочку. Сильная часть концепции: компания может не упоминаться в новости, но граф всё равно находит путь влияния.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Solution Engine может начинаться с каталога заранее подготовленных альтернатив. В MVP важнее показать объяснимое сравнение, чем обещать полный автономный поиск поставщиков.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Ключевая позиция: система не выдаёт приказ. Она показывает последствия сценариев при явных предположениях.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Этот слайд снимает главный вопрос к AI-продукту: почему руководитель должен верить выводу. Источники, факты и предположения показываются отдельно.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демо провести один сценарий без переключений между несвязанными экранами. Каждый следующий шаг отвечает на вопрос, который возник на предыдущем.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Команде важно согласовать один бизнес и три сценария. Все остальные идеи складываем в бэклог после того, как работает сквозная демонстрация.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Предложить распределить людей по потокам после фиксации контрактов. Демо UI зависит от стабильного формата impact path и результатов симулятора.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Завершить конкретным предложением: зафиксировать компанию, сценарии и владельцев потоков. После этого можно переходить к прототипированию.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400caf507540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c8cb18edfc4367" /><Relationship Type="http://schemas.openxmlformats.org/officeDocument/2006/relationships/slideLayout" Target="/ppt/slideLayouts/slideLayout1.xml" Id="Rec5b761a553340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5b761a553340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e46f9e8c94529" /><Relationship Type="http://schemas.openxmlformats.org/officeDocument/2006/relationships/image" Target="/ppt/media/image.png" Id="Ra14b600bbfb8462b" /><Relationship Type="http://schemas.openxmlformats.org/officeDocument/2006/relationships/notesSlide" Target="/ppt/notesSlides/notesSlide1.xml" Id="R19495e813b9144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439a4ac8a4142" /><Relationship Type="http://schemas.openxmlformats.org/officeDocument/2006/relationships/notesSlide" Target="/ppt/notesSlides/notesSlide2.xml" Id="Rbb919b5776e247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b3ca7c0e24f20" /><Relationship Type="http://schemas.openxmlformats.org/officeDocument/2006/relationships/notesSlide" Target="/ppt/notesSlides/notesSlide3.xml" Id="R71520007d7764f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ea2f822cd450f" /><Relationship Type="http://schemas.openxmlformats.org/officeDocument/2006/relationships/image" Target="/ppt/media/image2.png" Id="R79f689f745a3446b" /><Relationship Type="http://schemas.openxmlformats.org/officeDocument/2006/relationships/notesSlide" Target="/ppt/notesSlides/notesSlide4.xml" Id="Rb3e93feb9e9240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ec13d270443da" /><Relationship Type="http://schemas.openxmlformats.org/officeDocument/2006/relationships/notesSlide" Target="/ppt/notesSlides/notesSlide5.xml" Id="Ra0bd7c5864ab43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3924ada6a4ea3" /><Relationship Type="http://schemas.openxmlformats.org/officeDocument/2006/relationships/notesSlide" Target="/ppt/notesSlides/notesSlide6.xml" Id="R6d11fc1f368744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32c45ac764dd7" /><Relationship Type="http://schemas.openxmlformats.org/officeDocument/2006/relationships/image" Target="/ppt/media/image3.png" Id="R7f5a2461348a4f75" /><Relationship Type="http://schemas.openxmlformats.org/officeDocument/2006/relationships/notesSlide" Target="/ppt/notesSlides/notesSlide7.xml" Id="Rf25802f5e6ba4e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cd808a8284774" /><Relationship Type="http://schemas.openxmlformats.org/officeDocument/2006/relationships/notesSlide" Target="/ppt/notesSlides/notesSlide8.xml" Id="Rf84c8a49e0bd42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fbc7f442204b36" /><Relationship Type="http://schemas.openxmlformats.org/officeDocument/2006/relationships/notesSlide" Target="/ppt/notesSlides/notesSlide9.xml" Id="Ra440a8c5abb240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4ad3ae14c49d1" /><Relationship Type="http://schemas.openxmlformats.org/officeDocument/2006/relationships/notesSlide" Target="/ppt/notesSlides/notesSlide10.xml" Id="Rb8272efa6aee431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c3f10155946c4" /><Relationship Type="http://schemas.openxmlformats.org/officeDocument/2006/relationships/notesSlide" Target="/ppt/notesSlides/notesSlide11.xml" Id="R8190ad6034224e1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3a4c6d95e48af" /><Relationship Type="http://schemas.openxmlformats.org/officeDocument/2006/relationships/notesSlide" Target="/ppt/notesSlides/notesSlide12.xml" Id="Rbf433e9ffaed4e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4b600bbfb8462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F7D3B-360B-46AD-B53C-E82FA994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КОНТУР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7C3C3-9531-4B95-AE18-36B44D58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66E55A-424B-4870-906F-D2D68A6A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AI-система раннего понимания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рисков и возможностей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CB3CB-1750-487C-B878-66C6B715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B8BEC6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8BEC6"/>
                </a:solidFill>
                <a:latin typeface="Segoe UI"/>
                <a:ea typeface="Segoe UI"/>
                <a:cs typeface="Segoe UI"/>
              </a:rPr>
              <a:t>Digital Twin  ·  Impact Graph  ·  Solution Engine  ·  Scenario Simulator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4C2FA9-DBC7-4D0C-B570-0ADD3306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Внутренний питч команды · Альфа-хакатон</a:t>
            </a:r>
          </a:p>
        </p:txBody>
      </p:sp>
    </p:spTree>
    <p:extLst>
      <p:ext uri="{BB962C8B-B14F-4D97-AF65-F5344CB8AC3E}">
        <p14:creationId xmlns:p14="http://schemas.microsoft.com/office/powerpoint/2010/main" val="20779673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152F2A-DD36-4198-850E-3D03CABE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01318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101318"/>
                </a:solidFill>
                <a:latin typeface="Segoe UI"/>
                <a:ea typeface="Segoe UI"/>
                <a:cs typeface="Segoe UI"/>
              </a:rPr>
              <a:t>Руководителю нужна не лента, а приоритет решений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B0A85-57F6-4260-AC20-9F32839F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382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7E858E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7E858E"/>
                </a:solidFill>
                <a:latin typeface="Segoe UI"/>
                <a:ea typeface="Segoe UI"/>
                <a:cs typeface="Segoe UI"/>
              </a:rPr>
              <a:t>Пример утреннего среза для демонстрационной компании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C3E04-DDEE-44F3-B929-619459AF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2571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00" b="1">
                <a:solidFill>
                  <a:srgbClr val="101318"/>
                </a:solidFill>
                <a:latin typeface="Segoe UI"/>
                <a:ea typeface="Segoe UI"/>
                <a:cs typeface="Segoe UI"/>
              </a:defRPr>
            </a:pPr>
            <a:r>
              <a:rPr sz="7800" b="1">
                <a:solidFill>
                  <a:srgbClr val="101318"/>
                </a:solidFill>
                <a:latin typeface="Segoe UI"/>
                <a:ea typeface="Segoe UI"/>
                <a:cs typeface="Segoe UI"/>
              </a:rPr>
              <a:t>247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65B44-139C-4DE2-B939-B7AB3B52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7E858E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7E858E"/>
                </a:solidFill>
                <a:latin typeface="Segoe UI"/>
                <a:ea typeface="Segoe UI"/>
                <a:cs typeface="Segoe UI"/>
              </a:rPr>
              <a:t>событий за 12 часов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6FD0D-91B7-4CB5-B683-60C00202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09750"/>
            <a:ext cx="1809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00" b="1">
                <a:solidFill>
                  <a:srgbClr val="EF3124"/>
                </a:solidFill>
                <a:latin typeface="Segoe UI"/>
                <a:ea typeface="Segoe UI"/>
                <a:cs typeface="Segoe UI"/>
              </a:defRPr>
            </a:pPr>
            <a:r>
              <a:rPr sz="7800" b="1">
                <a:solidFill>
                  <a:srgbClr val="EF3124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8E52F8-9E27-4377-8679-F4DB17DF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432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EF3124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EF3124"/>
                </a:solidFill>
                <a:latin typeface="Segoe UI"/>
                <a:ea typeface="Segoe UI"/>
                <a:cs typeface="Segoe UI"/>
              </a:rPr>
              <a:t>требуют решения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B7F22D-9AAC-4DCE-B6DE-2F0DBF0E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762125"/>
            <a:ext cx="190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6EC10-F974-4504-9B41-73E70396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62125"/>
            <a:ext cx="190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177BCB-938B-4C4C-9EBE-F2909A0A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859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7E858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7E858E"/>
                </a:solidFill>
                <a:latin typeface="Segoe UI"/>
                <a:ea typeface="Segoe UI"/>
                <a:cs typeface="Segoe UI"/>
              </a:rPr>
              <a:t>Обычный сервис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0BDC53-26AF-441E-B9C6-B845DCC1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4315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75" b="1">
                <a:solidFill>
                  <a:srgbClr val="101318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101318"/>
                </a:solidFill>
                <a:latin typeface="Segoe UI"/>
                <a:ea typeface="Segoe UI"/>
                <a:cs typeface="Segoe UI"/>
              </a:rPr>
              <a:t>Что произошло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75" b="1">
                <a:solidFill>
                  <a:srgbClr val="101318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101318"/>
                </a:solidFill>
                <a:latin typeface="Segoe UI"/>
                <a:ea typeface="Segoe UI"/>
                <a:cs typeface="Segoe UI"/>
              </a:rPr>
              <a:t>в мире?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1E1B22-94E6-4680-9D64-40407B74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576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EF3124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EF3124"/>
                </a:solidFill>
                <a:latin typeface="Segoe UI"/>
                <a:ea typeface="Segoe UI"/>
                <a:cs typeface="Segoe UI"/>
              </a:rPr>
              <a:t>Контур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4B6342-6DBE-414E-AE1C-EF8E4287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95775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75" b="1">
                <a:solidFill>
                  <a:srgbClr val="101318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101318"/>
                </a:solidFill>
                <a:latin typeface="Segoe UI"/>
                <a:ea typeface="Segoe UI"/>
                <a:cs typeface="Segoe UI"/>
              </a:rPr>
              <a:t>Что это значит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75" b="1">
                <a:solidFill>
                  <a:srgbClr val="101318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101318"/>
                </a:solidFill>
                <a:latin typeface="Segoe UI"/>
                <a:ea typeface="Segoe UI"/>
                <a:cs typeface="Segoe UI"/>
              </a:rPr>
              <a:t>для нашего бизнеса?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5D9ECC-EC07-4C73-87AF-3AD700B3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81625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01318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01318"/>
                </a:solidFill>
                <a:latin typeface="Segoe UI"/>
                <a:ea typeface="Segoe UI"/>
                <a:cs typeface="Segoe UI"/>
              </a:rPr>
              <a:t>Фокус продукта: отделить фон от событий, которые меняют экономику конкретной компании.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651C0C-3DEA-48DD-B841-73C530ED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7816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7E858E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7E858E"/>
                </a:solidFill>
                <a:latin typeface="Segoe UI"/>
                <a:ea typeface="Segoe UI"/>
                <a:cs typeface="Segoe UI"/>
              </a:rPr>
              <a:t>Числа на слайде иллюстративны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DCD85D-2D86-4FF0-A3AB-60C39C57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436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7E858E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7E858E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3473B2-3902-4F02-9526-8CD976C3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12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854830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477250" y="286702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8BEC6"/>
            </a:solidFill>
            <a:prstDash val="solid"/>
            <a:tailEnd type="triangle" w="sm" len="sm"/>
          </a:ln>
        </p:spPr>
      </p:cxnSp>
      <p:cxnSp>
        <p:nvCxnSpPr>
          <p:cNvPr id="18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638800" y="286702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8BEC6"/>
            </a:solidFill>
            <a:prstDash val="solid"/>
            <a:tailEnd type="triangle" w="sm" len="sm"/>
          </a:ln>
        </p:spPr>
      </p:cxnSp>
      <p:cxnSp>
        <p:nvCxnSpPr>
          <p:cNvPr id="19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00350" y="286702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EF3124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BB2539-8904-4740-A5CD-2C8801C1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Механика продукта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E3CFC1-0B25-451E-8BD7-D3323907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382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B8BEC6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B8BEC6"/>
                </a:solidFill>
                <a:latin typeface="Segoe UI"/>
                <a:ea typeface="Segoe UI"/>
                <a:cs typeface="Segoe UI"/>
              </a:rPr>
              <a:t>Каждый сигнал проходит один и тот же путь от факта к управленческому выбору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EC1C21-5D4D-454A-AEA7-DCC63A7E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2095500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2A1515"/>
          </a:solidFill>
          <a:ln xmlns:a="http://schemas.openxmlformats.org/drawingml/2006/main" w="14288">
            <a:solidFill>
              <a:srgbClr val="EF3124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EF3124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EF3124"/>
                </a:solidFill>
                <a:latin typeface="Segoe UI"/>
                <a:ea typeface="Segoe UI"/>
                <a:cs typeface="Segoe UI"/>
              </a:rPr>
              <a:t>EVENT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21CD5-BF80-4E9A-95DE-74B5B5AD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B8BEC6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B8BEC6"/>
                </a:solidFill>
                <a:latin typeface="Segoe UI"/>
                <a:ea typeface="Segoe UI"/>
                <a:cs typeface="Segoe UI"/>
              </a:rPr>
              <a:t>Что изменилось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BC4D0-9622-4891-9903-DE8F5D4C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33625"/>
            <a:ext cx="2095500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14171C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IMPACT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F5DFD3-9FAD-41F6-96D7-620BB334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385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B8BEC6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B8BEC6"/>
                </a:solidFill>
                <a:latin typeface="Segoe UI"/>
                <a:ea typeface="Segoe UI"/>
                <a:cs typeface="Segoe UI"/>
              </a:rPr>
              <a:t>Где заденет бизнес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DFF79-BA8F-47E9-BC40-9EC9DB42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2095500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14171C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SOLUTION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64D3EB-9618-4F01-85E6-FD4529B3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B8BEC6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B8BEC6"/>
                </a:solidFill>
                <a:latin typeface="Segoe UI"/>
                <a:ea typeface="Segoe UI"/>
                <a:cs typeface="Segoe UI"/>
              </a:rPr>
              <a:t>Какие действия доступны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5F6B20-87CF-443F-A749-0DC0A980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33625"/>
            <a:ext cx="2095500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102529"/>
          </a:solidFill>
          <a:ln xmlns:a="http://schemas.openxmlformats.org/drawingml/2006/main" w="14288">
            <a:solidFill>
              <a:srgbClr val="3CC7D4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CC7D4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3CC7D4"/>
                </a:solidFill>
                <a:latin typeface="Segoe UI"/>
                <a:ea typeface="Segoe UI"/>
                <a:cs typeface="Segoe UI"/>
              </a:rPr>
              <a:t>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B36DD6-BBDE-4367-90BA-EFE5DD84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385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B8BEC6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B8BEC6"/>
                </a:solidFill>
                <a:latin typeface="Segoe UI"/>
                <a:ea typeface="Segoe UI"/>
                <a:cs typeface="Segoe UI"/>
              </a:rPr>
              <a:t>Какой сценарий выбрать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E2754C-5051-4966-B06B-E087144B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14900"/>
            <a:ext cx="904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93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Одна логика работает для рисков, возможностей и запросов «что если?»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21203E-78AC-41E5-8236-DCA24A5F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436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B8BEC6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B8BEC6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5874DA-B970-4E35-9C7D-823121BB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12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031029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f689f745a3446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ECED3-FB8D-4728-AD8C-42B6AD82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71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Digital Twin компании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2EA08-D991-4717-A818-AEABEF63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47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B8BEC6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8BEC6"/>
                </a:solidFill>
                <a:latin typeface="Segoe UI"/>
                <a:ea typeface="Segoe UI"/>
                <a:cs typeface="Segoe UI"/>
              </a:rPr>
              <a:t>Структура бизнеса, относительно которой система оценивает каждое внешнее событие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CBF5F-BAF9-434A-9B88-4E0E43D5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714875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Поставщики</a:t>
            </a:r>
            <a:r>
              <a:rPr sz="15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 · страны, товары, зависимости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Производство</a:t>
            </a:r>
            <a:r>
              <a:rPr sz="15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 · линии, мощности, критичные узлы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Финансы</a:t>
            </a:r>
            <a:r>
              <a:rPr sz="15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 · кредиты, валюты, структура затрат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Продажи</a:t>
            </a:r>
            <a:r>
              <a:rPr sz="15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 · продукты, регионы, рынки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517914-00D8-47A0-830D-77BCEED9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BB900-34D6-430F-A493-B7E7A1DB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Без этой модели AI видит новость. С ней он видит конкретную зависимость.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11862B-F3B7-46CE-B56A-C2A663BD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436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B8BEC6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B8BEC6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DDAF20-0C2F-4EDE-88F4-6937B844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12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871454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848850" y="30099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EF3124"/>
            </a:solidFill>
            <a:prstDash val="solid"/>
            <a:tailEnd type="triangle" w="sm" len="sm"/>
          </a:ln>
        </p:spPr>
      </p:cxn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924800" y="30099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EF3124"/>
            </a:solidFill>
            <a:prstDash val="solid"/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000750" y="30099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E858E"/>
            </a:solidFill>
            <a:prstDash val="solid"/>
            <a:tailEnd type="triangle" w="sm" len="sm"/>
          </a:ln>
        </p:spPr>
      </p:cxnSp>
      <p:cxnSp>
        <p:nvCxnSpPr>
          <p:cNvPr id="2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076700" y="30099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E858E"/>
            </a:solidFill>
            <a:prstDash val="solid"/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152650" y="30099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E858E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8046F9-77F2-40BC-9F19-C403D0A9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01318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101318"/>
                </a:solidFill>
                <a:latin typeface="Segoe UI"/>
                <a:ea typeface="Segoe UI"/>
                <a:cs typeface="Segoe UI"/>
              </a:rPr>
              <a:t>Impact Graph объясняет путь влияния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2ADFC-F112-4E60-AEA4-F225E412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382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7E858E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7E858E"/>
                </a:solidFill>
                <a:latin typeface="Segoe UI"/>
                <a:ea typeface="Segoe UI"/>
                <a:cs typeface="Segoe UI"/>
              </a:rPr>
              <a:t>Демонстрационный сценарий: экспортное ограничение затрагивает критичную компоненту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7B959-7E21-4DE3-9B4B-C7F5D3A1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15240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DE5E2"/>
          </a:solidFill>
          <a:ln xmlns:a="http://schemas.openxmlformats.org/drawingml/2006/main" w="14288">
            <a:solidFill>
              <a:srgbClr val="EF3124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318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01318"/>
                </a:solidFill>
                <a:latin typeface="Segoe UI"/>
                <a:ea typeface="Segoe UI"/>
                <a:cs typeface="Segoe UI"/>
              </a:rPr>
              <a:t>Ограничение</a:t>
            </a:r>
          </a:p>
          <a:p xmlns:a="http://schemas.openxmlformats.org/drawingml/2006/main">
            <a:pPr algn="ctr">
              <a:defRPr sz="1425" b="1">
                <a:solidFill>
                  <a:srgbClr val="101318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01318"/>
                </a:solidFill>
                <a:latin typeface="Segoe UI"/>
                <a:ea typeface="Segoe UI"/>
                <a:cs typeface="Segoe UI"/>
              </a:rPr>
              <a:t>экспорта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5F2B9-B700-4611-9D41-D49A83A6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76500"/>
            <a:ext cx="15240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4CE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318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01318"/>
                </a:solidFill>
                <a:latin typeface="Segoe UI"/>
                <a:ea typeface="Segoe UI"/>
                <a:cs typeface="Segoe UI"/>
              </a:rPr>
              <a:t>Supplier X</a:t>
            </a:r>
          </a:p>
          <a:p xmlns:a="http://schemas.openxmlformats.org/drawingml/2006/main">
            <a:pPr algn="ctr">
              <a:defRPr sz="1425" b="1">
                <a:solidFill>
                  <a:srgbClr val="101318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01318"/>
                </a:solidFill>
                <a:latin typeface="Segoe UI"/>
                <a:ea typeface="Segoe UI"/>
                <a:cs typeface="Segoe UI"/>
              </a:rPr>
              <a:t>Китай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7B44A7-3722-42F5-BD61-26DF0515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15240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4CE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318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01318"/>
                </a:solidFill>
                <a:latin typeface="Segoe UI"/>
                <a:ea typeface="Segoe UI"/>
                <a:cs typeface="Segoe UI"/>
              </a:rPr>
              <a:t>Component 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26A77B-481D-4ADC-8B3F-54D806C1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15240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4CE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318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01318"/>
                </a:solidFill>
                <a:latin typeface="Segoe UI"/>
                <a:ea typeface="Segoe UI"/>
                <a:cs typeface="Segoe UI"/>
              </a:rPr>
              <a:t>Линия №2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E6C6F-BB17-4FAD-AE36-C6215A56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76500"/>
            <a:ext cx="15240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AEFD9"/>
          </a:solidFill>
          <a:ln xmlns:a="http://schemas.openxmlformats.org/drawingml/2006/main" w="14288">
            <a:solidFill>
              <a:srgbClr val="E1A23A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318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01318"/>
                </a:solidFill>
                <a:latin typeface="Segoe UI"/>
                <a:ea typeface="Segoe UI"/>
                <a:cs typeface="Segoe UI"/>
              </a:rPr>
              <a:t>24% выпуска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DB1EB7-2DBC-434C-90E9-864D2EB9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476500"/>
            <a:ext cx="15240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DE5E2"/>
          </a:solidFill>
          <a:ln xmlns:a="http://schemas.openxmlformats.org/drawingml/2006/main" w="14288">
            <a:solidFill>
              <a:srgbClr val="EF3124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318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01318"/>
                </a:solidFill>
                <a:latin typeface="Segoe UI"/>
                <a:ea typeface="Segoe UI"/>
                <a:cs typeface="Segoe UI"/>
              </a:rPr>
              <a:t>Риск выручки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72EE4B-72F4-4CB1-B2E9-556A193D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EF3124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F3124"/>
                </a:solidFill>
                <a:latin typeface="Segoe UI"/>
                <a:ea typeface="Segoe UI"/>
                <a:cs typeface="Segoe UI"/>
              </a:rPr>
              <a:t>Внешний факт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699A68-D8B4-44AA-93E7-4989E94D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038350"/>
            <a:ext cx="537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7E858E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7E858E"/>
                </a:solidFill>
                <a:latin typeface="Segoe UI"/>
                <a:ea typeface="Segoe UI"/>
                <a:cs typeface="Segoe UI"/>
              </a:rPr>
              <a:t>Контур компании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192D5B-AC49-4875-A972-EF640300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38350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EF3124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F3124"/>
                </a:solidFill>
                <a:latin typeface="Segoe UI"/>
                <a:ea typeface="Segoe UI"/>
                <a:cs typeface="Segoe UI"/>
              </a:rPr>
              <a:t>Бизнес-последствие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6E2C22-8D6E-46A0-B55C-57546084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43425"/>
            <a:ext cx="111252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10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790374-699D-4F54-A1A6-C354402F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244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B8BEC6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B8BEC6"/>
                </a:solidFill>
                <a:latin typeface="Segoe UI"/>
                <a:ea typeface="Segoe UI"/>
                <a:cs typeface="Segoe UI"/>
              </a:rPr>
              <a:t>Главный ответ для руководителя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AA04ED-0D24-43AA-BCDB-5E5A1EEC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Почему эта новость касается именно нас и где проявится эффект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18CF03-B30B-45CE-8C19-0212647A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85787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7E858E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7E858E"/>
                </a:solidFill>
                <a:latin typeface="Segoe UI"/>
                <a:ea typeface="Segoe UI"/>
                <a:cs typeface="Segoe UI"/>
              </a:rPr>
              <a:t>Все цифры на слайде являются демо-данными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5984B4-7E15-4820-9C07-15038BBE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436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7E858E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7E858E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428E47-9AFB-4825-AA90-0DE562D8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12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310644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2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CD2EC9-7E61-47D6-8B01-EAA0BDBA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01318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101318"/>
                </a:solidFill>
                <a:latin typeface="Segoe UI"/>
                <a:ea typeface="Segoe UI"/>
                <a:cs typeface="Segoe UI"/>
              </a:rPr>
              <a:t>Solution Engine переводит риск в набор действий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71DC6-5210-4D39-92D4-54A0F22F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382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7E858E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7E858E"/>
                </a:solidFill>
                <a:latin typeface="Segoe UI"/>
                <a:ea typeface="Segoe UI"/>
                <a:cs typeface="Segoe UI"/>
              </a:rPr>
              <a:t>После объяснения проблемы система ищет альтернативы и показывает их цену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B2FB8-37CB-42FC-ADA9-9BEE0FAD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EF3124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EF3124"/>
                </a:solidFill>
                <a:latin typeface="Segoe UI"/>
                <a:ea typeface="Segoe UI"/>
                <a:cs typeface="Segoe UI"/>
              </a:rPr>
              <a:t>Задача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AD0F58-0686-49B1-9937-D54B584F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333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9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75" b="1">
                <a:solidFill>
                  <a:srgbClr val="101318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101318"/>
                </a:solidFill>
                <a:latin typeface="Segoe UI"/>
                <a:ea typeface="Segoe UI"/>
                <a:cs typeface="Segoe UI"/>
              </a:rPr>
              <a:t>Снизить риск остановки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75" b="1">
                <a:solidFill>
                  <a:srgbClr val="101318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101318"/>
                </a:solidFill>
                <a:latin typeface="Segoe UI"/>
                <a:ea typeface="Segoe UI"/>
                <a:cs typeface="Segoe UI"/>
              </a:rPr>
              <a:t>линии №2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2B532-493D-49C5-B343-045890E3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342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7E858E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7E858E"/>
                </a:solidFill>
                <a:latin typeface="Segoe UI"/>
                <a:ea typeface="Segoe UI"/>
                <a:cs typeface="Segoe UI"/>
              </a:rPr>
              <a:t>Система сопоставляет требования компоненты, географию, сроки и ограничения. Затем формирует проверяемый список вариантов.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B7FEB-78E6-408D-9C99-9586AA45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434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466CA4-541B-4136-A700-06093959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01318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01318"/>
                </a:solidFill>
                <a:latin typeface="Segoe UI"/>
                <a:ea typeface="Segoe UI"/>
                <a:cs typeface="Segoe UI"/>
              </a:rPr>
              <a:t>AI предлагает варианты. Руководитель выбирает компромисс.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4686300" y="1905000"/>
          <a:ext xmlns:a="http://schemas.openxmlformats.org/drawingml/2006/main" cx="6819900" cy="3390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476375"/>
                <a:gridCol w="1476375"/>
                <a:gridCol w="1771650"/>
              </a:tblGrid>
              <a:tr h="552450">
                <a:tc>
                  <a:txBody>
                    <a:bodyPr/>
                    <a:lstStyle/>
                    <a:p>
                      <a:r>
                        <a:t>Альтернатива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Цена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Срок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Остаточный риск</a:t>
                      </a:r>
                    </a:p>
                  </a:txBody>
                  <a:tcPr marL="91440" marR="91440" marT="45720" marB="45720"/>
                </a:tc>
              </a:tr>
              <a:tr h="876300">
                <a:tc>
                  <a:txBody>
                    <a:bodyPr/>
                    <a:lstStyle/>
                    <a:p>
                      <a:r>
                        <a:t>Таиланд · 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+7%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18 дней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8%</a:t>
                      </a:r>
                    </a:p>
                  </a:txBody>
                  <a:tcPr marL="91440" marR="91440" marT="45720" marB="45720"/>
                </a:tc>
              </a:tr>
              <a:tr h="876300">
                <a:tc>
                  <a:txBody>
                    <a:bodyPr/>
                    <a:lstStyle/>
                    <a:p>
                      <a:r>
                        <a:t>Япония · 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+13%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 дней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4%</a:t>
                      </a:r>
                    </a:p>
                  </a:txBody>
                  <a:tcPr marL="91440" marR="91440" marT="45720" marB="45720"/>
                </a:tc>
              </a:tr>
              <a:tr h="876300">
                <a:tc>
                  <a:txBody>
                    <a:bodyPr/>
                    <a:lstStyle/>
                    <a:p>
                      <a:r>
                        <a:t>Южная Корея · 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+9%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16 дней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6%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6DB94F-2B6A-4D8D-BDDB-E5C6BB1F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505450"/>
            <a:ext cx="501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7E858E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7E858E"/>
                </a:solidFill>
                <a:latin typeface="Segoe UI"/>
                <a:ea typeface="Segoe UI"/>
                <a:cs typeface="Segoe UI"/>
              </a:rPr>
              <a:t>Демо-данные: значения нужны для показа механики сравнения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3602B3-9BBA-4491-AFB6-D467D884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436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7E858E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7E858E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C8F182-479D-4363-A7F0-4A181F21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12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4063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5a2461348a4f7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8D3B68-17CA-4773-8733-F4838485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Scenario Simulator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17AF25-7ED5-4633-93F0-803144C7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B8BEC6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B8BEC6"/>
                </a:solidFill>
                <a:latin typeface="Segoe UI"/>
                <a:ea typeface="Segoe UI"/>
                <a:cs typeface="Segoe UI"/>
              </a:rPr>
              <a:t>Сравнение последствий до принятия решения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1932B2-2E66-4C11-B025-00DA7687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38300"/>
            <a:ext cx="459105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4F2EE"/>
          </a:solidFill>
          <a:ln xmlns:a="http://schemas.openxmlformats.org/drawingml/2006/main" w="9525">
            <a:solidFill>
              <a:srgbClr val="D8D4CE"/>
            </a:solidFill>
            <a:prstDash val="solid"/>
          </a:ln>
        </p:spPr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391400" y="1962150"/>
          <a:ext xmlns:a="http://schemas.openxmlformats.org/drawingml/2006/main" cx="4057650" cy="2914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52550"/>
                <a:gridCol w="895350"/>
                <a:gridCol w="895350"/>
                <a:gridCol w="914400"/>
              </a:tblGrid>
              <a:tr h="552450">
                <a:tc>
                  <a:txBody>
                    <a:bodyPr/>
                    <a:lstStyle/>
                    <a:p>
                      <a:r>
                        <a:t>Сценарий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Риск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Себест.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Срок</a:t>
                      </a:r>
                    </a:p>
                  </a:txBody>
                  <a:tcPr marL="91440" marR="91440" marT="45720" marB="45720"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Ничего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риск</a:t>
                      </a:r>
                    </a:p>
                  </a:txBody>
                  <a:tcPr marL="91440" marR="91440" marT="45720" marB="45720"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Таиланд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+7%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18 дн.</a:t>
                      </a:r>
                    </a:p>
                  </a:txBody>
                  <a:tcPr marL="91440" marR="91440" marT="45720" marB="45720"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Япония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+13%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 дн.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68068A-1508-4C6D-A8C1-4983B189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029200"/>
            <a:ext cx="405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01318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01318"/>
                </a:solidFill>
                <a:latin typeface="Segoe UI"/>
                <a:ea typeface="Segoe UI"/>
                <a:cs typeface="Segoe UI"/>
              </a:rPr>
              <a:t>Решение остаётся за человеком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4A527C-01B0-4FE7-BB22-BD24FBF2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6769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B8BEC6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B8BEC6"/>
                </a:solidFill>
                <a:latin typeface="Segoe UI"/>
                <a:ea typeface="Segoe UI"/>
                <a:cs typeface="Segoe UI"/>
              </a:rPr>
              <a:t>Иллюстративные расчёты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0D0F30-AB1B-4138-B362-228440B6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436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B8BEC6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B8BEC6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3B8310-0291-46B8-85E8-18A4B172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12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80603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2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87FCB6-AE88-4AAB-A863-259F2F22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01318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101318"/>
                </a:solidFill>
                <a:latin typeface="Segoe UI"/>
                <a:ea typeface="Segoe UI"/>
                <a:cs typeface="Segoe UI"/>
              </a:rPr>
              <a:t>Доверие строится на видимых основаниях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B5505D-6519-447C-B1CF-797F8CBA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382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7E858E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7E858E"/>
                </a:solidFill>
                <a:latin typeface="Segoe UI"/>
                <a:ea typeface="Segoe UI"/>
                <a:cs typeface="Segoe UI"/>
              </a:rPr>
              <a:t>Каждый вывод разделяет факты, предположения и неопределённость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DD754-4476-4706-8E74-D417E781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DFF6F8"/>
          </a:solidFill>
          <a:ln xmlns:a="http://schemas.openxmlformats.org/drawingml/2006/main" w="11430">
            <a:solidFill>
              <a:srgbClr val="3CC7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74A13-A303-45E9-965E-B48403B4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145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3CC7D4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3CC7D4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E1B9C-A357-475D-87CC-93E2B2D6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9145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0131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01318"/>
                </a:solidFill>
                <a:latin typeface="Segoe UI"/>
                <a:ea typeface="Segoe UI"/>
                <a:cs typeface="Segoe UI"/>
              </a:rPr>
              <a:t>ИСТОЧНИКИ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CD7E7E-F0F5-4A59-A7D1-A7EA3953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050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01318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01318"/>
                </a:solidFill>
                <a:latin typeface="Segoe UI"/>
                <a:ea typeface="Segoe UI"/>
                <a:cs typeface="Segoe UI"/>
              </a:rPr>
              <a:t>официальные сообщения · аналитика Альфа-Банка · данные компании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96FE92-BD89-4588-A357-809FFF01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8204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4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9353B9-C976-4064-B343-BBF532EB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860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D8D4C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D8D4CE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01FB59-9CC5-49C3-A6AB-39E73919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860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0131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01318"/>
                </a:solidFill>
                <a:latin typeface="Segoe UI"/>
                <a:ea typeface="Segoe UI"/>
                <a:cs typeface="Segoe UI"/>
              </a:rPr>
              <a:t>ФАКТЫ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BF2826-6E1B-49A9-82C1-A17CBDAE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765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01318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01318"/>
                </a:solidFill>
                <a:latin typeface="Segoe UI"/>
                <a:ea typeface="Segoe UI"/>
                <a:cs typeface="Segoe UI"/>
              </a:rPr>
              <a:t>затронутая товарная категория · доля поставщика · зависимая линия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A5EB7C-A560-4049-A718-3C260AF1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108204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AEFD9"/>
          </a:solidFill>
          <a:ln xmlns:a="http://schemas.openxmlformats.org/drawingml/2006/main" w="11430">
            <a:solidFill>
              <a:srgbClr val="E1A2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2B120E-8EF6-43EE-A7D9-D5CE3781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576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E1A23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E1A23A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7ABB03-F560-44EE-BF98-08DCD5A8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57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0131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01318"/>
                </a:solidFill>
                <a:latin typeface="Segoe UI"/>
                <a:ea typeface="Segoe UI"/>
                <a:cs typeface="Segoe UI"/>
              </a:rPr>
              <a:t>ПРЕДПОЛОЖЕНИЯ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17D196-9E26-4346-B021-5EE162F5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8481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01318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01318"/>
                </a:solidFill>
                <a:latin typeface="Segoe UI"/>
                <a:ea typeface="Segoe UI"/>
                <a:cs typeface="Segoe UI"/>
              </a:rPr>
              <a:t>объём производства не меняется · поставщик остаётся прежним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4AC4D6-C3D3-4C6E-B3B3-11BFD559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108204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DE5E2"/>
          </a:solidFill>
          <a:ln xmlns:a="http://schemas.openxmlformats.org/drawingml/2006/main" w="11430">
            <a:solidFill>
              <a:srgbClr val="EF312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94D725-7155-45A6-B7EC-1B5EFB13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291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EF3124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EF3124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BBAAE0-3186-48F0-A942-49E83450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291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0131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01318"/>
                </a:solidFill>
                <a:latin typeface="Segoe UI"/>
                <a:ea typeface="Segoe UI"/>
                <a:cs typeface="Segoe UI"/>
              </a:rPr>
              <a:t>УВЕРЕННОСТЬ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41A8BD-F8BC-42BC-B128-90CA1240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8196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01318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01318"/>
                </a:solidFill>
                <a:latin typeface="Segoe UI"/>
                <a:ea typeface="Segoe UI"/>
                <a:cs typeface="Segoe UI"/>
              </a:rPr>
              <a:t>84% · диапазон вместо ложной точности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29E893-FCA8-42A8-85C4-6BF65BB4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07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85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1318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01318"/>
                </a:solidFill>
                <a:latin typeface="Segoe UI"/>
                <a:ea typeface="Segoe UI"/>
                <a:cs typeface="Segoe UI"/>
              </a:rPr>
              <a:t>Если данных недостаточно, система сообщает об этом прямо и не придумывает финансовую точность.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3A9D73-C004-4EF7-BB8A-8F12437D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857875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7E858E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7E858E"/>
                </a:solidFill>
                <a:latin typeface="Segoe UI"/>
                <a:ea typeface="Segoe UI"/>
                <a:cs typeface="Segoe UI"/>
              </a:rPr>
              <a:t>Пример карточки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91F8C1-1FB9-4750-811B-18130145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436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7E858E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7E858E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59EC1F-41C4-4693-B315-FEAAE03E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12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946845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ECF5B9-8C00-448C-A49D-EBEC74B7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Сценарий использования за четыре шага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9CAB9-3F74-4679-B90A-12DCDA36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382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B8BEC6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B8BEC6"/>
                </a:solidFill>
                <a:latin typeface="Segoe UI"/>
                <a:ea typeface="Segoe UI"/>
                <a:cs typeface="Segoe UI"/>
              </a:rPr>
              <a:t>Утренний сигнал превращается в решение за несколько минут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324DF4-5F93-4F2E-912F-4CF28FCA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800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EF3124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EF3124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975CD-9653-4A4A-B7B4-940556FC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D531F1-0691-4470-B51B-D4EC99F9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266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Увидеть приоритет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001BC9-40C8-4E4F-B468-2D52D431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2266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B8BEC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B8BEC6"/>
                </a:solidFill>
                <a:latin typeface="Segoe UI"/>
                <a:ea typeface="Segoe UI"/>
                <a:cs typeface="Segoe UI"/>
              </a:rPr>
              <a:t>Три события требуют внимания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1B6EF9-BE3B-4631-AF11-48B3A528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71675"/>
            <a:ext cx="800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3CC7D4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3CC7D4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A695D7-ABE5-448A-B4ED-ACF5BACB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90825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1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2AF99-7CA6-42C6-9D79-B4429C55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05150"/>
            <a:ext cx="2266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Разобрать влияние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5FB21B-9906-43B6-ADF9-35DB7BB8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95725"/>
            <a:ext cx="2266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B8BEC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B8BEC6"/>
                </a:solidFill>
                <a:latin typeface="Segoe UI"/>
                <a:ea typeface="Segoe UI"/>
                <a:cs typeface="Segoe UI"/>
              </a:rPr>
              <a:t>Граф показывает зависимую линию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52A65E-C552-4D1E-BF1D-5EAC5986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800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3CC7D4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3CC7D4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95F76D-C730-4B91-9879-D14770CD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90825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1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8E0119-76ED-4560-9A8A-0F4C5B34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5150"/>
            <a:ext cx="2266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Сравнить действия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C7E04F-41D2-498C-AE7A-01EE5378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95725"/>
            <a:ext cx="2266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B8BEC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B8BEC6"/>
                </a:solidFill>
                <a:latin typeface="Segoe UI"/>
                <a:ea typeface="Segoe UI"/>
                <a:cs typeface="Segoe UI"/>
              </a:rPr>
              <a:t>Альтернативы и их цена видны рядом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7470E6-5DAD-46D1-990E-932986B9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71675"/>
            <a:ext cx="800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3CC7D4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3CC7D4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9ADF39-0B30-4D08-ACF1-352DF776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90825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1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E208E6-5F4A-4841-94B9-C354422F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05150"/>
            <a:ext cx="2266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Зафиксировать выбор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3CBFB2-FAD2-4C20-B549-7A254353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95725"/>
            <a:ext cx="2266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B8BEC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B8BEC6"/>
                </a:solidFill>
                <a:latin typeface="Segoe UI"/>
                <a:ea typeface="Segoe UI"/>
                <a:cs typeface="Segoe UI"/>
              </a:rPr>
              <a:t>Решение и предположения сохраняются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8032C2-F47A-43DF-849D-7EA5BD53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48275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62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Интерфейс сохраняет логику продукта: событие, влияние, варианты, решение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5E0542-D4BB-4A2E-9E0A-1A154BCF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436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B8BEC6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B8BEC6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45E6E9-6379-4A3C-9E2B-82BED4DB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12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882504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2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48BF7E-A252-4572-939C-66C9FEEA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01318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101318"/>
                </a:solidFill>
                <a:latin typeface="Segoe UI"/>
                <a:ea typeface="Segoe UI"/>
                <a:cs typeface="Segoe UI"/>
              </a:rPr>
              <a:t>MVP для хакатона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CA93EC-56DF-445D-A714-5EEBA544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382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7E858E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7E858E"/>
                </a:solidFill>
                <a:latin typeface="Segoe UI"/>
                <a:ea typeface="Segoe UI"/>
                <a:cs typeface="Segoe UI"/>
              </a:rPr>
              <a:t>Узкий контур позволяет показать глубину механики вместо набора полуготовых функций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71FA4C-729F-42D0-92DD-4A7A4236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38325"/>
            <a:ext cx="152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050" b="1">
                <a:solidFill>
                  <a:srgbClr val="EF3124"/>
                </a:solidFill>
                <a:latin typeface="Segoe UI"/>
                <a:ea typeface="Segoe UI"/>
                <a:cs typeface="Segoe UI"/>
              </a:defRPr>
            </a:pPr>
            <a:r>
              <a:rPr sz="7050" b="1">
                <a:solidFill>
                  <a:srgbClr val="EF3124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F2D71A-5ECE-4FB5-87A6-6384B5B4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01318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01318"/>
                </a:solidFill>
                <a:latin typeface="Segoe UI"/>
                <a:ea typeface="Segoe UI"/>
                <a:cs typeface="Segoe UI"/>
              </a:rPr>
              <a:t>демонстрационная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01318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01318"/>
                </a:solidFill>
                <a:latin typeface="Segoe UI"/>
                <a:ea typeface="Segoe UI"/>
                <a:cs typeface="Segoe UI"/>
              </a:rPr>
              <a:t>компания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A2CDF-09B6-4958-B346-01026EE6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38325"/>
            <a:ext cx="152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050" b="1">
                <a:solidFill>
                  <a:srgbClr val="101318"/>
                </a:solidFill>
                <a:latin typeface="Segoe UI"/>
                <a:ea typeface="Segoe UI"/>
                <a:cs typeface="Segoe UI"/>
              </a:defRPr>
            </a:pPr>
            <a:r>
              <a:rPr sz="7050" b="1">
                <a:solidFill>
                  <a:srgbClr val="101318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E43E26-82EE-467F-8222-DE872F1C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8610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01318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01318"/>
                </a:solidFill>
                <a:latin typeface="Segoe UI"/>
                <a:ea typeface="Segoe UI"/>
                <a:cs typeface="Segoe UI"/>
              </a:rPr>
              <a:t>безупречных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01318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01318"/>
                </a:solidFill>
                <a:latin typeface="Segoe UI"/>
                <a:ea typeface="Segoe UI"/>
                <a:cs typeface="Segoe UI"/>
              </a:rPr>
              <a:t>сценария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C2694-4548-442E-9CC6-08711DF3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38325"/>
            <a:ext cx="152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050" b="1">
                <a:solidFill>
                  <a:srgbClr val="3CC7D4"/>
                </a:solidFill>
                <a:latin typeface="Segoe UI"/>
                <a:ea typeface="Segoe UI"/>
                <a:cs typeface="Segoe UI"/>
              </a:defRPr>
            </a:pPr>
            <a:r>
              <a:rPr sz="7050" b="1">
                <a:solidFill>
                  <a:srgbClr val="3CC7D4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607221-F1D2-4973-8336-BF9F32C1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8610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01318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01318"/>
                </a:solidFill>
                <a:latin typeface="Segoe UI"/>
                <a:ea typeface="Segoe UI"/>
                <a:cs typeface="Segoe UI"/>
              </a:rPr>
              <a:t>связанных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01318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01318"/>
                </a:solidFill>
                <a:latin typeface="Segoe UI"/>
                <a:ea typeface="Segoe UI"/>
                <a:cs typeface="Segoe UI"/>
              </a:rPr>
              <a:t>модулей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113D7A-89A2-4AEC-88B2-BBEFC28D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1981200"/>
            <a:ext cx="190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9492C8-853B-48E8-860A-4D5DB850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981200"/>
            <a:ext cx="190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C6A534-35AA-4E11-84D6-CD2D0D72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F3124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F3124"/>
                </a:solidFill>
                <a:latin typeface="Segoe UI"/>
                <a:ea typeface="Segoe UI"/>
                <a:cs typeface="Segoe UI"/>
              </a:rPr>
              <a:t>Сценарий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FDFEE2-784E-4713-AEA7-5CB57CBA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01318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01318"/>
                </a:solidFill>
                <a:latin typeface="Segoe UI"/>
                <a:ea typeface="Segoe UI"/>
                <a:cs typeface="Segoe UI"/>
              </a:rPr>
              <a:t>Сбой поставок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10A4CA-DBD5-47F0-9990-F791C695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57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F3124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F3124"/>
                </a:solidFill>
                <a:latin typeface="Segoe UI"/>
                <a:ea typeface="Segoe UI"/>
                <a:cs typeface="Segoe UI"/>
              </a:rPr>
              <a:t>Сценарий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D3115E-8CCE-4391-9789-FA6D8C5F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762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01318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01318"/>
                </a:solidFill>
                <a:latin typeface="Segoe UI"/>
                <a:ea typeface="Segoe UI"/>
                <a:cs typeface="Segoe UI"/>
              </a:rPr>
              <a:t>Изменение ставки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CB6A02-D8BE-488E-AD55-808F9695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57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F3124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F3124"/>
                </a:solidFill>
                <a:latin typeface="Segoe UI"/>
                <a:ea typeface="Segoe UI"/>
                <a:cs typeface="Segoe UI"/>
              </a:rPr>
              <a:t>Сценарий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00973A-DF20-4064-B584-EFD3AF1F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625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01318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01318"/>
                </a:solidFill>
                <a:latin typeface="Segoe UI"/>
                <a:ea typeface="Segoe UI"/>
                <a:cs typeface="Segoe UI"/>
              </a:rPr>
              <a:t>Новая возможность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05818E-2344-4123-B2B2-9077B9D0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9592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05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7E858E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7E858E"/>
                </a:solidFill>
                <a:latin typeface="Segoe UI"/>
                <a:ea typeface="Segoe UI"/>
                <a:cs typeface="Segoe UI"/>
              </a:rPr>
              <a:t>Демонстрируем универсальную механику на заранее подготовленных данных и проверяемых расчётах.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0B3317-A33A-41CA-A8EF-913F5976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436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7E858E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7E858E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F30179-F162-4EB5-9201-8028EEFE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12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59362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810750" y="2219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8BEC6"/>
            </a:solidFill>
            <a:prstDash val="soli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858125" y="2219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8BEC6"/>
            </a:solidFill>
            <a:prstDash val="solid"/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905500" y="2219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8BEC6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952875" y="2219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8BEC6"/>
            </a:solidFill>
            <a:prstDash val="solid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000250" y="2219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EF3124"/>
            </a:solidFill>
            <a:prstDash val="soli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658D86-2058-4F39-B56F-D8C77312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Архитектура MVP и рабочие потоки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68868C-6F58-49AE-BE7A-1B3EDF33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382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B8BEC6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B8BEC6"/>
                </a:solidFill>
                <a:latin typeface="Segoe UI"/>
                <a:ea typeface="Segoe UI"/>
                <a:cs typeface="Segoe UI"/>
              </a:rPr>
              <a:t>Компоненты можно разрабатывать параллельно через заранее согласованные контракты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B0E578-1538-47E2-8566-125C591D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14763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4171C"/>
          </a:solidFill>
          <a:ln xmlns:a="http://schemas.openxmlformats.org/drawingml/2006/main" w="14288">
            <a:solidFill>
              <a:srgbClr val="EF3124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Источники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663DD-0167-4CC9-B3DB-F2DEDE1F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09750"/>
            <a:ext cx="14763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4171C"/>
          </a:solidFill>
          <a:ln xmlns:a="http://schemas.openxmlformats.org/drawingml/2006/main" w="14288">
            <a:solidFill>
              <a:srgbClr val="3E4651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Event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B41C5-A6DB-4CE9-9931-EE7C583B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14763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02529"/>
          </a:solidFill>
          <a:ln xmlns:a="http://schemas.openxmlformats.org/drawingml/2006/main" w="14288">
            <a:solidFill>
              <a:srgbClr val="3CC7D4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Business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Graph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54512D-9028-405D-A2B4-3038A5CB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14763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4171C"/>
          </a:solidFill>
          <a:ln xmlns:a="http://schemas.openxmlformats.org/drawingml/2006/main" w="14288">
            <a:solidFill>
              <a:srgbClr val="3E4651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Solution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Engine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1356C-E96A-45D9-B86F-2C20BEC7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14763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4171C"/>
          </a:solidFill>
          <a:ln xmlns:a="http://schemas.openxmlformats.org/drawingml/2006/main" w="14288">
            <a:solidFill>
              <a:srgbClr val="3E4651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Simulator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E624E-08AE-4025-A381-72CD7C84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809750"/>
            <a:ext cx="14763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4171C"/>
          </a:solidFill>
          <a:ln xmlns:a="http://schemas.openxmlformats.org/drawingml/2006/main" w="14288">
            <a:solidFill>
              <a:srgbClr val="3E4651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Demo UI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AAB6E4-33D8-47AC-BA43-B0C3857E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Рабочие потоки команды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4CDFE1-DCF5-4BD9-BD37-866AB2B0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EF3124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EF3124"/>
                </a:solidFill>
                <a:latin typeface="Segoe UI"/>
                <a:ea typeface="Segoe UI"/>
                <a:cs typeface="Segoe UI"/>
              </a:rPr>
              <a:t>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CF813F-26C8-492C-9B1A-32EE88CA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8BEC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B8BEC6"/>
                </a:solidFill>
                <a:latin typeface="Segoe UI"/>
                <a:ea typeface="Segoe UI"/>
                <a:cs typeface="Segoe UI"/>
              </a:rPr>
              <a:t>события и демо-данные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42321F-5DC8-4481-BE2D-4F336266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719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CC7D4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3CC7D4"/>
                </a:solidFill>
                <a:latin typeface="Segoe UI"/>
                <a:ea typeface="Segoe UI"/>
                <a:cs typeface="Segoe UI"/>
              </a:rPr>
              <a:t>GRAPH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0771AB-7092-43D6-BADD-E29CA410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6245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8BEC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B8BEC6"/>
                </a:solidFill>
                <a:latin typeface="Segoe UI"/>
                <a:ea typeface="Segoe UI"/>
                <a:cs typeface="Segoe UI"/>
              </a:rPr>
              <a:t>модель компании и связи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B75B38-A54A-404F-BB16-2A27CED9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719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CC7D4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3CC7D4"/>
                </a:solidFill>
                <a:latin typeface="Segoe UI"/>
                <a:ea typeface="Segoe UI"/>
                <a:cs typeface="Segoe UI"/>
              </a:rPr>
              <a:t>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0B06C7-6993-49C4-9BF8-26244909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36245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8BEC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B8BEC6"/>
                </a:solidFill>
                <a:latin typeface="Segoe UI"/>
                <a:ea typeface="Segoe UI"/>
                <a:cs typeface="Segoe UI"/>
              </a:rPr>
              <a:t>извлечение, объяснения, поиск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2160C5-B045-417D-B2E5-6E5A8D88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719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CC7D4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3CC7D4"/>
                </a:solidFill>
                <a:latin typeface="Segoe UI"/>
                <a:ea typeface="Segoe UI"/>
                <a:cs typeface="Segoe UI"/>
              </a:rPr>
              <a:t>SIM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86AF7F-5143-4192-99DA-0CDB5CDE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36245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8BEC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B8BEC6"/>
                </a:solidFill>
                <a:latin typeface="Segoe UI"/>
                <a:ea typeface="Segoe UI"/>
                <a:cs typeface="Segoe UI"/>
              </a:rPr>
              <a:t>формулы и сценарии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B0F681-4161-42A1-8994-B523903D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719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CC7D4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3CC7D4"/>
                </a:solidFill>
                <a:latin typeface="Segoe UI"/>
                <a:ea typeface="Segoe UI"/>
                <a:cs typeface="Segoe UI"/>
              </a:rPr>
              <a:t>FRONT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D83BD8-6398-4C31-B8BF-21BD3C38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6245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8BEC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B8BEC6"/>
                </a:solidFill>
                <a:latin typeface="Segoe UI"/>
                <a:ea typeface="Segoe UI"/>
                <a:cs typeface="Segoe UI"/>
              </a:rPr>
              <a:t>история демо и интерфейс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89376C-959E-41CA-971C-0C2043AD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19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2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Общий контракт: идентификаторы сущностей, формат impact path, набор сценарных параметров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6A3F28-4064-42F0-8D34-4298AB04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436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B8BEC6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B8BEC6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51E9DE-F1E0-4253-B2EC-6C73D066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12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160431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232DF8-3FA6-4801-891C-F949CCF9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Мир меняется каждый час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34977-C1E1-496F-9416-848E2A0A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8667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3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Контур показывает, что это значит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3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3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для конкретного бизнеса и какие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3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3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решения доступны дальше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0C868-A504-4C92-88B3-E70DD6EF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047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4FDDE5-DC98-472B-AF13-F1E043AB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B8BEC6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B8BEC6"/>
                </a:solidFill>
                <a:latin typeface="Segoe UI"/>
                <a:ea typeface="Segoe UI"/>
                <a:cs typeface="Segoe UI"/>
              </a:rPr>
              <a:t>Решения команды сегодня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0E3E8B-A444-4C85-8FD7-E7E07F6B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01  Выбрать демо-компанию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55D79-D910-4F1C-8565-1BEF417E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02  Зафиксировать три сценария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ADB9F1-3884-4196-ACBF-6F7F60BA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03  Разделить пять рабочих потоков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5FAF0-AB1A-470F-A4D3-73486735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638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100" b="1">
                <a:solidFill>
                  <a:srgbClr val="EF3124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EF3124"/>
                </a:solidFill>
                <a:latin typeface="Segoe UI"/>
                <a:ea typeface="Segoe UI"/>
                <a:cs typeface="Segoe UI"/>
              </a:rPr>
              <a:t>КОНТУР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FC28F9-8434-43AA-A5DC-A36B7F63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436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B8BEC6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B8BEC6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D2CC07-13DE-42D6-AF81-B2FD340A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12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665967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2026-10-03T14:29:53.9600000Z</dcterms:created>
  <dcterms:modified xsi:type="dcterms:W3CDTF">2026-10-03T14:29:53.9600000Z</dcterms:modified>
</coreProperties>
</file>